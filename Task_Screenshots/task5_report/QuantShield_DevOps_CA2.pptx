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professors. Instead of building a disposable toy demo, we took our real BTech machine learning project, QuantShield, and engineered a DevOps layer around it. The goal is to make infrastructure reproducible, container builds consistent, deployments controlled, and application behavior observable — while keeping the quantitative risk logic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CI/CD pipeline. Every change follows the same gates: validate the API, verify the Ansible automation, build the container, and prove the Kubernetes manifests can actually roll out. The important point is that the pipeline does not stop at a unit test — it validates the delivery path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containerization, we package the actual QuantShield backend into a consistent Python runtime. Kubernetes then keeps two replicas behind a service, with readiness and liveness probes tied to the existing health endpoint. The important DevOps demonstration is the controlled rollout: update from v1 to v2, observe the rollout, and recover with kubectl rollout undo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Ansible addresses the environment side: packages, service identity, directories and configuration are created consistently instead of manually. Prometheus and Grafana address the runtime side: the FastAPI service exposes metrics, Prometheus collects them, and Grafana visualizes uptime, latency, traffic and errors. Together, configuration and observability close the operational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the biggest lesson was that ML deployment is different from deploying a basic web API. Scientific dependencies affect the container footprint, runtime compatibility can surface in CI, and model warm-up time affects Kubernetes probe design. The broader lesson is that DevOps is not just a toolchain — it is the discipline that makes the whole lifecycle repeatable and observable.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QUANTSHIELD  |  DEVOPS CA2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| 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quantitative model to production-ready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QuantShield keeps its ML core intact while DevOps adds repeatability, resilience and observability.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700784"/>
            <a:ext cx="3063240" cy="4187952"/>
          </a:xfrm>
          <a:prstGeom prst="roundRect">
            <a:avLst>
              <a:gd name="adj" fmla="val 2388"/>
            </a:avLst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920240"/>
            <a:ext cx="1060704" cy="274320"/>
          </a:xfrm>
          <a:prstGeom prst="roundRect">
            <a:avLst>
              <a:gd name="adj" fmla="val 20000"/>
            </a:avLst>
          </a:prstGeom>
          <a:solidFill>
            <a:srgbClr val="34548C"/>
          </a:solidFill>
          <a:ln w="12700">
            <a:solidFill>
              <a:srgbClr val="345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888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OBJECTIVE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8952" y="2359152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Wrap the existing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CatBoost-backed risk engine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 a reliable delivery lifecycle.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58952" y="38404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8F8"/>
                </a:solidFill>
              </a:rPr>
              <a:t>No changes to the underlying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8F8"/>
                </a:solidFill>
              </a:rPr>
              <a:t>quantitative risk logic.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" y="4663440"/>
            <a:ext cx="2340864" cy="0"/>
          </a:xfrm>
          <a:prstGeom prst="line">
            <a:avLst/>
          </a:prstGeom>
          <a:noFill/>
          <a:ln w="12700">
            <a:solidFill>
              <a:srgbClr val="5D7B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481888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BBD0EB"/>
                </a:solidFill>
              </a:rPr>
              <a:t>Design principle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8952" y="503834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Shift-left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5376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DE8F8"/>
                </a:solidFill>
              </a:rPr>
              <a:t>Catch runtime, schema and rollout issues before they reach the cluster.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886200" y="1700784"/>
            <a:ext cx="7086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86200" y="1700784"/>
            <a:ext cx="64008" cy="5120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0792" y="1847088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Source 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50792" y="2103120"/>
            <a:ext cx="679399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feature branch → main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24928" y="2212848"/>
            <a:ext cx="0" cy="146304"/>
          </a:xfrm>
          <a:prstGeom prst="line">
            <a:avLst/>
          </a:prstGeom>
          <a:noFill/>
          <a:ln w="1524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86200" y="2359152"/>
            <a:ext cx="7086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86200" y="2359152"/>
            <a:ext cx="64008" cy="512064"/>
          </a:xfrm>
          <a:prstGeom prst="rect">
            <a:avLst/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2505456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CI/CD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50792" y="2761488"/>
            <a:ext cx="679399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GitHub Actions on ephemeral runners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24928" y="2871216"/>
            <a:ext cx="0" cy="146304"/>
          </a:xfrm>
          <a:prstGeom prst="line">
            <a:avLst/>
          </a:prstGeom>
          <a:noFill/>
          <a:ln w="1524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86200" y="3017520"/>
            <a:ext cx="7086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86200" y="3017520"/>
            <a:ext cx="64008" cy="512064"/>
          </a:xfrm>
          <a:prstGeom prst="rect">
            <a:avLst/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0792" y="3163824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Configuration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50792" y="3419856"/>
            <a:ext cx="679399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Ansible · idempotent runtime setup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24928" y="3529584"/>
            <a:ext cx="0" cy="146304"/>
          </a:xfrm>
          <a:prstGeom prst="line">
            <a:avLst/>
          </a:prstGeom>
          <a:noFill/>
          <a:ln w="1524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886200" y="3675888"/>
            <a:ext cx="7086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86200" y="3675888"/>
            <a:ext cx="64008" cy="5120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3822192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Container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50792" y="4078224"/>
            <a:ext cx="679399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Python 3.11-slim · immutable image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24928" y="4187952"/>
            <a:ext cx="0" cy="146304"/>
          </a:xfrm>
          <a:prstGeom prst="line">
            <a:avLst/>
          </a:prstGeom>
          <a:noFill/>
          <a:ln w="1524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86200" y="4334256"/>
            <a:ext cx="7086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86200" y="4334256"/>
            <a:ext cx="64008" cy="512064"/>
          </a:xfrm>
          <a:prstGeom prst="rect">
            <a:avLst/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0792" y="4480560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50792" y="4736592"/>
            <a:ext cx="679399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Kubernetes (KinD) · 2 replicas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4846320"/>
            <a:ext cx="0" cy="146304"/>
          </a:xfrm>
          <a:prstGeom prst="line">
            <a:avLst/>
          </a:prstGeom>
          <a:noFill/>
          <a:ln w="1524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886200" y="4992624"/>
            <a:ext cx="7086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86200" y="4992624"/>
            <a:ext cx="64008" cy="512064"/>
          </a:xfrm>
          <a:prstGeom prst="rect">
            <a:avLst/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0792" y="5138928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050792" y="5394960"/>
            <a:ext cx="679399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Prometheus → Grafana · golden signals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268712" y="175564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41864" y="1824228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B72"/>
                </a:solidFill>
              </a:rPr>
              <a:t>CONTROL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0268712" y="241401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41864" y="2482596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8A0AE"/>
                </a:solidFill>
              </a:rPr>
              <a:t>AUTOMATE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10268712" y="3072384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8F6F1"/>
          </a:solidFill>
          <a:ln w="12700">
            <a:solidFill>
              <a:srgbClr val="E8F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41864" y="314096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8F7A"/>
                </a:solidFill>
              </a:rPr>
              <a:t>CONFIGURE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10268712" y="3730752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41864" y="379933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6BFF"/>
                </a:solidFill>
              </a:rPr>
              <a:t>PACKAGE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10268712" y="438912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41864" y="4457700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8A0AE"/>
                </a:solidFill>
              </a:rPr>
              <a:t>ORCHESTRATE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10268712" y="50474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8F6F1"/>
          </a:solidFill>
          <a:ln w="12700">
            <a:solidFill>
              <a:srgbClr val="E8F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41864" y="5116068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8F7A"/>
                </a:solidFill>
              </a:rPr>
              <a:t>OBSERVE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|  CI/CD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continuous delivery engine — GitHub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Every change passes the same automated gates before it becomes a deployable artifact.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773936"/>
            <a:ext cx="1508760" cy="969264"/>
          </a:xfrm>
          <a:prstGeom prst="roundRect">
            <a:avLst>
              <a:gd name="adj" fmla="val 7547"/>
            </a:avLst>
          </a:prstGeom>
          <a:solidFill>
            <a:srgbClr val="EAF0FF"/>
          </a:solidFill>
          <a:ln w="12700">
            <a:solidFill>
              <a:srgbClr val="C8D6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94944" y="1920240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7E2FF"/>
          </a:solidFill>
          <a:ln w="12700">
            <a:solidFill>
              <a:srgbClr val="D7E2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" y="19888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6BFF"/>
                </a:solidFill>
              </a:rPr>
              <a:t>TRIGGER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94944" y="2322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push / pull request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57400" y="2258568"/>
            <a:ext cx="365760" cy="0"/>
          </a:xfrm>
          <a:prstGeom prst="line">
            <a:avLst/>
          </a:prstGeom>
          <a:noFill/>
          <a:ln w="20320">
            <a:solidFill>
              <a:srgbClr val="D8E0E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68880" y="1719072"/>
            <a:ext cx="19019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606040" y="1883664"/>
            <a:ext cx="283464" cy="28346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06040" y="1929384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71800" y="1865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01  Validate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25856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Tests + health + /metrics sanity check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370832" y="2258568"/>
            <a:ext cx="201168" cy="0"/>
          </a:xfrm>
          <a:prstGeom prst="line">
            <a:avLst/>
          </a:prstGeom>
          <a:noFill/>
          <a:ln w="20320">
            <a:solidFill>
              <a:srgbClr val="D8E0E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17720" y="1719072"/>
            <a:ext cx="19019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54880" y="1883664"/>
            <a:ext cx="283464" cy="283464"/>
          </a:xfrm>
          <a:prstGeom prst="ellipse">
            <a:avLst/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54880" y="1929384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20640" y="1865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02  IaC 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5856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Ansible syntax validation / lint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519672" y="2258568"/>
            <a:ext cx="201168" cy="0"/>
          </a:xfrm>
          <a:prstGeom prst="line">
            <a:avLst/>
          </a:prstGeom>
          <a:noFill/>
          <a:ln w="20320">
            <a:solidFill>
              <a:srgbClr val="D8E0E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766560" y="1719072"/>
            <a:ext cx="19019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903720" y="1883664"/>
            <a:ext cx="283464" cy="283464"/>
          </a:xfrm>
          <a:prstGeom prst="ellipse">
            <a:avLst/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903720" y="1929384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69480" y="1865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03  Package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25856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Docker build with deterministic tags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668512" y="2258568"/>
            <a:ext cx="201168" cy="0"/>
          </a:xfrm>
          <a:prstGeom prst="line">
            <a:avLst/>
          </a:prstGeom>
          <a:noFill/>
          <a:ln w="20320">
            <a:solidFill>
              <a:srgbClr val="D8E0E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915400" y="1719072"/>
            <a:ext cx="19019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052560" y="1883664"/>
            <a:ext cx="283464" cy="283464"/>
          </a:xfrm>
          <a:prstGeom prst="ellipse">
            <a:avLst/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052560" y="1929384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418320" y="1865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04  Prove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52560" y="225856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KinD apply + rollout verification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470916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33741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F6BFF"/>
                </a:solidFill>
              </a:rPr>
              <a:t>WHAT THE PIPELINE PROVES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6384" y="3749040"/>
            <a:ext cx="68580" cy="685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4400" y="367588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The service can start and answer its health check.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86384" y="4114800"/>
            <a:ext cx="68580" cy="68580"/>
          </a:xfrm>
          <a:prstGeom prst="ellipse">
            <a:avLst/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14400" y="404164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Ansible automation is syntactically valid.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86384" y="4480560"/>
            <a:ext cx="68580" cy="68580"/>
          </a:xfrm>
          <a:prstGeom prst="ellipse">
            <a:avLst/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14400" y="440740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The production Docker image builds successfully.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5349240" y="3127248"/>
            <a:ext cx="6309360" cy="2788920"/>
          </a:xfrm>
          <a:prstGeom prst="roundRect">
            <a:avLst/>
          </a:prstGeom>
          <a:solidFill>
            <a:srgbClr val="0F141C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0" y="3218688"/>
            <a:ext cx="6035040" cy="256032"/>
          </a:xfrm>
          <a:prstGeom prst="roundRect">
            <a:avLst/>
          </a:prstGeom>
          <a:solidFill>
            <a:srgbClr val="0A1E19"/>
          </a:solidFill>
          <a:ln w="12700">
            <a:solidFill>
              <a:srgbClr val="14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0E68C"/>
                </a:solidFill>
              </a:defRPr>
            </a:pPr>
            <a:r>
              <a:t>LIVE PROOF: GITHUB ACTIONS PIPELINE (ALL 4 GATING STAGES PASSED · 4m 57s)</a:t>
            </a:r>
          </a:p>
        </p:txBody>
      </p:sp>
      <p:pic>
        <p:nvPicPr>
          <p:cNvPr id="43" name="Picture 42" descr="screenshot_pipelin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529584"/>
            <a:ext cx="603504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|  CONTAINERS + K8S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Containerization and zero-downtime orchestration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Docker standardizes the runtime; Kubernetes controls availability, rollout and recovery.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719072"/>
            <a:ext cx="3703320" cy="4315968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071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6BFF"/>
                </a:solidFill>
              </a:rPr>
              <a:t>DOCKER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77240" y="23408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Immutable application image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8529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944368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7085"/>
                </a:solidFill>
              </a:rPr>
              <a:t>RUNTIME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86968" y="312724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72"/>
                </a:solidFill>
              </a:rPr>
              <a:t>Python 3.11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285292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2944368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7085"/>
                </a:solidFill>
              </a:rPr>
              <a:t>BASE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532888" y="312724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slim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67085"/>
                </a:solidFill>
              </a:rPr>
              <a:t>Packaging priorities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7240" y="4178808"/>
            <a:ext cx="68580" cy="685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41056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Dependencies installed before source copy for cache reuse.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" y="4553712"/>
            <a:ext cx="68580" cy="68580"/>
          </a:xfrm>
          <a:prstGeom prst="ellipse">
            <a:avLst/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480560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Port 8000 exposed to the service layer.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4928616"/>
            <a:ext cx="68580" cy="68580"/>
          </a:xfrm>
          <a:prstGeom prst="ellipse">
            <a:avLst/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855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Health check aligned to the existing risk health endpoint.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55961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3B72"/>
                </a:solidFill>
              </a:rPr>
              <a:t>Build once. Run the same image everywhere.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480560" y="1719072"/>
            <a:ext cx="7150608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193852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00710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8A0AE"/>
                </a:solidFill>
              </a:rPr>
              <a:t>KUBERNETES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736592" y="232257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2 replicas · readiness + liveness · rolling update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736592" y="2788920"/>
            <a:ext cx="4526280" cy="1554480"/>
          </a:xfrm>
          <a:prstGeom prst="roundRect">
            <a:avLst>
              <a:gd name="adj" fmla="val 4706"/>
            </a:avLst>
          </a:prstGeom>
          <a:solidFill>
            <a:srgbClr val="F9FBFE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9443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67085"/>
                </a:solidFill>
              </a:rPr>
              <a:t>Deployment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37760" y="3291840"/>
            <a:ext cx="1737360" cy="694944"/>
          </a:xfrm>
          <a:prstGeom prst="roundRect">
            <a:avLst>
              <a:gd name="adj" fmla="val 10526"/>
            </a:avLst>
          </a:prstGeom>
          <a:solidFill>
            <a:srgbClr val="EAF0FF"/>
          </a:solidFill>
          <a:ln w="12700">
            <a:solidFill>
              <a:srgbClr val="CAD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44728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B72"/>
                </a:solidFill>
              </a:rPr>
              <a:t>Pod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02352" y="365760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B8F7A"/>
                </a:solidFill>
              </a:rPr>
              <a:t>ready ✓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903720" y="3291840"/>
            <a:ext cx="1737360" cy="694944"/>
          </a:xfrm>
          <a:prstGeom prst="roundRect">
            <a:avLst>
              <a:gd name="adj" fmla="val 10526"/>
            </a:avLst>
          </a:prstGeom>
          <a:solidFill>
            <a:srgbClr val="E7F7F8"/>
          </a:solidFill>
          <a:ln w="12700">
            <a:solidFill>
              <a:srgbClr val="C4E8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344728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B72"/>
                </a:solidFill>
              </a:rPr>
              <a:t>Pod 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68312" y="365760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B8F7A"/>
                </a:solidFill>
              </a:rPr>
              <a:t>ready ✓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9482328" y="2999232"/>
            <a:ext cx="1810512" cy="1024128"/>
          </a:xfrm>
          <a:prstGeom prst="roundRect">
            <a:avLst>
              <a:gd name="adj" fmla="val 7143"/>
            </a:avLst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32186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92640" y="350215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DE8F8"/>
                </a:solidFill>
              </a:rPr>
              <a:t>NodePort :30080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641080" y="3639312"/>
            <a:ext cx="841248" cy="0"/>
          </a:xfrm>
          <a:prstGeom prst="line">
            <a:avLst/>
          </a:prstGeom>
          <a:noFill/>
          <a:ln w="1778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27648" y="3639312"/>
            <a:ext cx="576072" cy="0"/>
          </a:xfrm>
          <a:prstGeom prst="line">
            <a:avLst/>
          </a:prstGeom>
          <a:noFill/>
          <a:ln w="1270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4709160" y="4343400"/>
            <a:ext cx="6675120" cy="237744"/>
          </a:xfrm>
          <a:prstGeom prst="roundRect">
            <a:avLst/>
          </a:prstGeom>
          <a:solidFill>
            <a:srgbClr val="0A192D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3CA0FF"/>
                </a:solidFill>
              </a:defRPr>
            </a:pPr>
            <a:r>
              <a:t>LIVE KUBERNETES ORCHESTRATION PROOF (KinD CLUSTER)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4645152"/>
            <a:ext cx="3218688" cy="201168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B4C8DC"/>
                </a:solidFill>
              </a:defRPr>
            </a:pPr>
            <a:r>
              <a:t>Rolling Update: v1.0.0 → v2.0.0 (100% Uptime)</a:t>
            </a:r>
          </a:p>
        </p:txBody>
      </p:sp>
      <p:pic>
        <p:nvPicPr>
          <p:cNvPr id="42" name="Picture 41" descr="screenshot_k8s_rolling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882896"/>
            <a:ext cx="3218688" cy="155448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165592" y="4645152"/>
            <a:ext cx="3218688" cy="201168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B4C8DC"/>
                </a:solidFill>
              </a:defRPr>
            </a:pPr>
            <a:r>
              <a:t>Disaster Recovery: Rollback v2 → v1 (&lt;15s MTTR)</a:t>
            </a:r>
          </a:p>
        </p:txBody>
      </p:sp>
      <p:pic>
        <p:nvPicPr>
          <p:cNvPr id="44" name="Picture 43" descr="screenshot_k8s_roll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4882896"/>
            <a:ext cx="3218688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|  IAC + OBSERVABILITY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as code meets full-stack telemetry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Ansible makes runtime setup repeatable; Prometheus and Grafana make the running service measurable.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737360"/>
            <a:ext cx="3703320" cy="4261104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E8F6F1"/>
          </a:solidFill>
          <a:ln w="12700">
            <a:solidFill>
              <a:srgbClr val="E8F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345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8F7A"/>
                </a:solidFill>
              </a:rPr>
              <a:t>ANSIBLE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Repeatable host configuration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862072"/>
            <a:ext cx="13258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62072"/>
            <a:ext cx="64008" cy="61264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008376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Packages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32644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git · pip · docker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67712" y="2862072"/>
            <a:ext cx="13258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67712" y="2862072"/>
            <a:ext cx="64008" cy="612648"/>
          </a:xfrm>
          <a:prstGeom prst="rect">
            <a:avLst/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3008376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Identity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32304" y="32644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quantshield user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3685032"/>
            <a:ext cx="13258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85032"/>
            <a:ext cx="64008" cy="612648"/>
          </a:xfrm>
          <a:prstGeom prst="rect">
            <a:avLst/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831336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Filesystem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408736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/opt/quantshield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67712" y="3685032"/>
            <a:ext cx="13258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67712" y="3685032"/>
            <a:ext cx="64008" cy="612648"/>
          </a:xfrm>
          <a:prstGeom prst="rect">
            <a:avLst/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3831336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Config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32304" y="408736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non-secret env template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3172968"/>
            <a:ext cx="164592" cy="0"/>
          </a:xfrm>
          <a:prstGeom prst="line">
            <a:avLst/>
          </a:prstGeom>
          <a:noFill/>
          <a:ln w="1397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44752" y="3493008"/>
            <a:ext cx="0" cy="192024"/>
          </a:xfrm>
          <a:prstGeom prst="line">
            <a:avLst/>
          </a:prstGeom>
          <a:noFill/>
          <a:ln w="1397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6080" y="3493008"/>
            <a:ext cx="0" cy="192024"/>
          </a:xfrm>
          <a:prstGeom prst="line">
            <a:avLst/>
          </a:prstGeom>
          <a:noFill/>
          <a:ln w="1397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80560" y="1737360"/>
            <a:ext cx="7150608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196596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203454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8A0AE"/>
                </a:solidFill>
              </a:rPr>
              <a:t>PROMETHEUS + GRAFANA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736592" y="2359152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Observe the service in real time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4736592" y="2852928"/>
            <a:ext cx="1938528" cy="932688"/>
          </a:xfrm>
          <a:prstGeom prst="roundRect">
            <a:avLst>
              <a:gd name="adj" fmla="val 7843"/>
            </a:avLst>
          </a:prstGeom>
          <a:solidFill>
            <a:srgbClr val="EAF0FF"/>
          </a:solidFill>
          <a:ln w="12700">
            <a:solidFill>
              <a:srgbClr val="CAD7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0632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B72"/>
                </a:solidFill>
              </a:rPr>
              <a:t>QuantShield API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19472" y="334670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/metrics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702552" y="3319272"/>
            <a:ext cx="429768" cy="0"/>
          </a:xfrm>
          <a:prstGeom prst="line">
            <a:avLst/>
          </a:prstGeom>
          <a:noFill/>
          <a:ln w="1905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168896" y="2852928"/>
            <a:ext cx="1627632" cy="932688"/>
          </a:xfrm>
          <a:prstGeom prst="roundRect">
            <a:avLst>
              <a:gd name="adj" fmla="val 7843"/>
            </a:avLst>
          </a:prstGeom>
          <a:solidFill>
            <a:srgbClr val="E7F7F8"/>
          </a:solidFill>
          <a:ln w="12700">
            <a:solidFill>
              <a:srgbClr val="C4E8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063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A0AE"/>
                </a:solidFill>
              </a:rPr>
              <a:t>Prometheus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88352" y="334670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pull + store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833104" y="3319272"/>
            <a:ext cx="420624" cy="0"/>
          </a:xfrm>
          <a:prstGeom prst="line">
            <a:avLst/>
          </a:prstGeom>
          <a:noFill/>
          <a:ln w="1905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290304" y="2852928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0" y="30632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Grafana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09760" y="3346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DE8F8"/>
                </a:solidFill>
              </a:rPr>
              <a:t>dashboard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777240" y="4343400"/>
            <a:ext cx="3200400" cy="219456"/>
          </a:xfrm>
          <a:prstGeom prst="roundRect">
            <a:avLst/>
          </a:prstGeom>
          <a:solidFill>
            <a:srgbClr val="0A1E19"/>
          </a:solidFill>
          <a:ln w="12700">
            <a:solidFill>
              <a:srgbClr val="14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0E68C"/>
                </a:solidFill>
              </a:defRPr>
            </a:pPr>
            <a:r>
              <a:t>PLAY RECAP: ok=9 changed=5 failed=0</a:t>
            </a:r>
          </a:p>
        </p:txBody>
      </p:sp>
      <p:pic>
        <p:nvPicPr>
          <p:cNvPr id="51" name="Picture 50" descr="screenshot_ansible_exec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17720"/>
            <a:ext cx="3200400" cy="1627632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4736592" y="4069080"/>
            <a:ext cx="6656832" cy="237744"/>
          </a:xfrm>
          <a:prstGeom prst="roundRect">
            <a:avLst/>
          </a:prstGeom>
          <a:solidFill>
            <a:srgbClr val="0F1928"/>
          </a:solidFill>
          <a:ln w="12700"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50B4FF"/>
                </a:solidFill>
              </a:defRPr>
            </a:pPr>
            <a:r>
              <a:t>LIVE GRAFANA OBSERVABILITY DASHBOARD (FOUR GOLDEN SIGNALS)</a:t>
            </a:r>
          </a:p>
        </p:txBody>
      </p:sp>
      <p:pic>
        <p:nvPicPr>
          <p:cNvPr id="53" name="Picture 52" descr="grafana_dashboard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4352544"/>
            <a:ext cx="6656832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|  REFLECTION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realities — what the deployment taught 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Deploying an ML-backed service exposed constraints that are easy to miss in local development.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792224"/>
            <a:ext cx="318211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93392"/>
            <a:ext cx="393192" cy="27432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6197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01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280160" y="20025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Scientific dependencies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4871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NumPy, Pandas, Scikit-learn and CatBoost increase container size.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2670048" cy="0"/>
          </a:xfrm>
          <a:prstGeom prst="line">
            <a:avLst/>
          </a:prstGeom>
          <a:noFill/>
          <a:ln w="12700">
            <a:solidFill>
              <a:srgbClr val="D8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2841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7085"/>
                </a:solidFill>
              </a:rPr>
              <a:t>Response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731520" y="352958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Trim base packages, clean apt caches, and keep the build context tight.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41648" y="1792224"/>
            <a:ext cx="318211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2816" y="1993392"/>
            <a:ext cx="393192" cy="274320"/>
          </a:xfrm>
          <a:prstGeom prst="roundRect">
            <a:avLst>
              <a:gd name="adj" fmla="val 20000"/>
            </a:avLst>
          </a:prstGeom>
          <a:solidFill>
            <a:srgbClr val="18A0AE"/>
          </a:solidFill>
          <a:ln w="12700">
            <a:solidFill>
              <a:srgbClr val="18A0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06197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02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791456" y="20025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Python runtime compatibility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42816" y="24871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Typing/runtime differences can surface only on cloud runners.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242816" y="3182112"/>
            <a:ext cx="2670048" cy="0"/>
          </a:xfrm>
          <a:prstGeom prst="line">
            <a:avLst/>
          </a:prstGeom>
          <a:noFill/>
          <a:ln w="12700">
            <a:solidFill>
              <a:srgbClr val="D8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332841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7085"/>
                </a:solidFill>
              </a:rPr>
              <a:t>Response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242816" y="352958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Make imports explicit and validate against the same Python version in CI.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52944" y="1792224"/>
            <a:ext cx="318211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54112" y="1993392"/>
            <a:ext cx="393192" cy="274320"/>
          </a:xfrm>
          <a:prstGeom prst="roundRect">
            <a:avLst>
              <a:gd name="adj" fmla="val 20000"/>
            </a:avLst>
          </a:prstGeom>
          <a:solidFill>
            <a:srgbClr val="1B8F7A"/>
          </a:solidFill>
          <a:ln w="12700">
            <a:solidFill>
              <a:srgbClr val="1B8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206197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03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8302752" y="20025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ML cold-start vs probes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54112" y="24871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Model deserialization can take longer than a web app startup.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754112" y="3182112"/>
            <a:ext cx="2670048" cy="0"/>
          </a:xfrm>
          <a:prstGeom prst="line">
            <a:avLst/>
          </a:prstGeom>
          <a:noFill/>
          <a:ln w="12700">
            <a:solidFill>
              <a:srgbClr val="D8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332841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7085"/>
                </a:solidFill>
              </a:rPr>
              <a:t>Response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7754112" y="352958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Tune readiness/liveness behavior around real model warm-up time.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0352" y="4315968"/>
            <a:ext cx="11109960" cy="1389888"/>
          </a:xfrm>
          <a:prstGeom prst="roundRect">
            <a:avLst>
              <a:gd name="adj" fmla="val 5263"/>
            </a:avLst>
          </a:prstGeom>
          <a:solidFill>
            <a:srgbClr val="173B72"/>
          </a:solidFill>
          <a:ln w="12700">
            <a:solidFill>
              <a:srgbClr val="173B7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" y="455371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90" kern="0" dirty="0">
                <a:solidFill>
                  <a:srgbClr val="BBD0EB"/>
                </a:solidFill>
              </a:rPr>
              <a:t>THREE TAKEAWAYS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04672" y="4864608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Idempotency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515721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DE8F8"/>
                </a:solidFill>
              </a:rPr>
              <a:t>Rerunning automation should converge safely.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480560" y="4864608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Shift-left observability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515721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DE8F8"/>
                </a:solidFill>
              </a:rPr>
              <a:t>Metrics belong in the service, not only in production.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8156448" y="4864608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Automation compounds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56448" y="515721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DE8F8"/>
                </a:solidFill>
              </a:rPr>
              <a:t>A repeatable pipeline turns deployment into a process, not a ritual.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30352" y="59253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599389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F6BFF"/>
                </a:solidFill>
              </a:rPr>
              <a:t>REPEATABLE BUILD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2596896" y="5925312"/>
            <a:ext cx="1975104" cy="274320"/>
          </a:xfrm>
          <a:prstGeom prst="roundRect">
            <a:avLst>
              <a:gd name="adj" fmla="val 20000"/>
            </a:avLst>
          </a:prstGeom>
          <a:solidFill>
            <a:srgbClr val="E8F6F1"/>
          </a:solidFill>
          <a:ln w="12700">
            <a:solidFill>
              <a:srgbClr val="E8F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70048" y="59938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8F7A"/>
                </a:solidFill>
              </a:rPr>
              <a:t>REPRODUCIBLE RUNTIME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718304" y="5925312"/>
            <a:ext cx="1773936" cy="274320"/>
          </a:xfrm>
          <a:prstGeom prst="roundRect">
            <a:avLst>
              <a:gd name="adj" fmla="val 20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5993892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8A0AE"/>
                </a:solidFill>
              </a:rPr>
              <a:t>CONTROLLED ROLLOUT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638544" y="5925312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11696" y="599389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3B72"/>
                </a:solidFill>
              </a:rPr>
              <a:t>OBSERVABLE APP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302752" y="591616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→  QuantShield is no longer “just code”; it is an operable service.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QuantShield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QuantShield DevOps CA2</dc:title>
  <dc:subject>QuantShield DevOps CA2</dc:subject>
  <dc:creator>OpenAI</dc:creator>
  <cp:lastModifiedBy>OpenAI</cp:lastModifiedBy>
  <cp:revision>1</cp:revision>
  <dcterms:created xsi:type="dcterms:W3CDTF">2026-10-04T12:52:51Z</dcterms:created>
  <dcterms:modified xsi:type="dcterms:W3CDTF">2026-10-04T12:52:51Z</dcterms:modified>
</cp:coreProperties>
</file>